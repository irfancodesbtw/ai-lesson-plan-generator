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5500" b="0">
                <a:solidFill>
                  <a:srgbClr val="152D47"/>
                </a:solidFill>
                <a:latin typeface="Arial"/>
              </a:defRPr>
            </a:pPr>
            <a:r>
              <a:t>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150FE"/>
                </a:solidFill>
                <a:latin typeface="Arial"/>
              </a:defRPr>
            </a:pPr>
            <a:r>
              <a:t>WEEK 2 REVIEW · INVESTIGATION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Georgia"/>
              </a:defRPr>
            </a:pPr>
            <a:r>
              <a:t>AI Lesson Plan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B8099"/>
                </a:solidFill>
                <a:latin typeface="Arial"/>
              </a:defRPr>
            </a:pPr>
            <a:r>
              <a:t>FirstCry Intellitots · Early Childhood Education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Dhori Sushmitha (Frontend)  ·  Bandhela Anirudh (Backend)  ·  Shaik Irfan Basha (Testing &amp; Deployment)</a:t>
            </a:r>
          </a:p>
          <a:p>
            <a:pPr algn="ctr">
              <a:defRPr sz="1000">
                <a:solidFill>
                  <a:srgbClr val="6B8099"/>
                </a:solidFill>
                <a:latin typeface="Arial"/>
              </a:defRPr>
            </a:pPr>
            <a:r>
              <a:t>NIAT Internship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50FE"/>
                </a:solidFill>
                <a:latin typeface="Arial"/>
              </a:defRPr>
            </a:pPr>
            <a:r>
              <a:t>WEEK 1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52D47"/>
                </a:solidFill>
                <a:latin typeface="Georgia"/>
              </a:defRPr>
            </a:pPr>
            <a:r>
              <a:t>Problem Defined. Objectives Set.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2150FE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57200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152D47"/>
                </a:solidFill>
                <a:latin typeface="Arial"/>
              </a:defRPr>
            </a:pPr>
            <a:r>
              <a:t>Early childhood teachers at FirstCry Intellitots spend 2–4 hours daily on manual lesson planning with no standardised, AI-assisted tool — causing inconsistent curriculum quality and limiting scalability across centres.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E85D04"/>
                </a:solidFill>
                <a:latin typeface="Arial"/>
              </a:defRPr>
            </a:pPr>
            <a:r>
              <a:t>4 Core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57200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152D47"/>
                </a:solidFill>
                <a:latin typeface="Arial"/>
              </a:defRPr>
            </a:pPr>
            <a:r>
              <a:t>• Automate lesson plan generation via AI</a:t>
            </a:r>
            <a:br/>
            <a:br/>
            <a:r>
              <a:t>• Generate age-appropriate activities &amp; materials</a:t>
            </a:r>
            <a:br/>
            <a:br/>
            <a:r>
              <a:t>• Reduce teacher prep time significantly</a:t>
            </a:r>
            <a:br/>
            <a:br/>
            <a:r>
              <a:t>• Standardise curriculum quality across centres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10698480" cy="82296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8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257800"/>
            <a:ext cx="101498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152D47"/>
                </a:solidFill>
                <a:latin typeface="Arial"/>
              </a:defRPr>
            </a:pPr>
            <a:r>
              <a:t>✅ Week 1 Status: Problem statement, objectives, wireframes, GitHub structure, and tech stack all finalised and mentor-approved.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50FE"/>
                </a:solidFill>
                <a:latin typeface="Arial"/>
              </a:defRPr>
            </a:pPr>
            <a:r>
              <a:t>LITERATURE SURVEY — PART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52D47"/>
                </a:solidFill>
                <a:latin typeface="Georgia"/>
              </a:defRPr>
            </a:pPr>
            <a:r>
              <a:t>What Research Tells 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2150FE"/>
                </a:solidFill>
                <a:latin typeface="Arial"/>
              </a:defRPr>
            </a:pPr>
            <a:r>
              <a:t>⏱️ UNESCO / McKinsey,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01752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152D47"/>
                </a:solidFill>
                <a:latin typeface="Arial"/>
              </a:defRPr>
            </a:pPr>
            <a:r>
              <a:t>Teachers spend 40–50% of work time on non-teaching tasks like planning. AI tools can cut this by up to 60%, freeing teachers to focus on direct instruction.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2150FE"/>
                </a:solidFill>
                <a:latin typeface="Arial"/>
              </a:defRPr>
            </a:pPr>
            <a:r>
              <a:t>📚 Vygotsky ZPD + NAEYC, 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01752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152D47"/>
                </a:solidFill>
                <a:latin typeface="Arial"/>
              </a:defRPr>
            </a:pPr>
            <a:r>
              <a:t>Early childhood education requires developmentally appropriate practice (DAP) calibrated to cognitive stages. Generic templates fail 73% of the time (NAEYC audit).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2150FE"/>
                </a:solidFill>
                <a:latin typeface="Arial"/>
              </a:defRPr>
            </a:pPr>
            <a:r>
              <a:t>🤖 Stanford HAI,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86000"/>
            <a:ext cx="301752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152D47"/>
                </a:solidFill>
                <a:latin typeface="Arial"/>
              </a:defRPr>
            </a:pPr>
            <a:r>
              <a:t>LLM content tools achieve 87% teacher satisfaction when outputs are structured and constrained. Open-ended generation drops satisfaction to 52%.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37760"/>
            <a:ext cx="10698480" cy="914400"/>
          </a:xfrm>
          <a:prstGeom prst="roundRect">
            <a:avLst/>
          </a:prstGeom>
          <a:solidFill>
            <a:srgbClr val="F5F0EB"/>
          </a:solidFill>
          <a:ln w="12700">
            <a:solidFill>
              <a:srgbClr val="F5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14984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152D47"/>
                </a:solidFill>
                <a:latin typeface="Arial"/>
              </a:defRPr>
            </a:pPr>
            <a:r>
              <a:t>💡 Key Synthesis: The research converges on one gap: No existing tool combines age-specific DAP constraints with AI generation in an accessible, structured format for preschool educators.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50FE"/>
                </a:solidFill>
                <a:latin typeface="Arial"/>
              </a:defRPr>
            </a:pPr>
            <a:r>
              <a:t>LITERATURE SURVEY — PART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52D47"/>
                </a:solidFill>
                <a:latin typeface="Georgia"/>
              </a:defRPr>
            </a:pPr>
            <a:r>
              <a:t>Research Gap: The Missing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E85D04"/>
                </a:solidFill>
                <a:latin typeface="Arial"/>
              </a:defRPr>
            </a:pPr>
            <a:r>
              <a:t>📊 EdTech Market,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01752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152D47"/>
                </a:solidFill>
                <a:latin typeface="Arial"/>
              </a:defRPr>
            </a:pPr>
            <a:r>
              <a:t>Global EdTech market is set to reach $404B by 2025. Yet AI-powered planning tools represent only 3.2% of deployments — a massive untapped segment.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E85D04"/>
                </a:solidFill>
                <a:latin typeface="Arial"/>
              </a:defRPr>
            </a:pPr>
            <a:r>
              <a:t>🧒 Early Childhood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01752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152D47"/>
                </a:solidFill>
                <a:latin typeface="Arial"/>
              </a:defRPr>
            </a:pPr>
            <a:r>
              <a:t>Research (Harvard CEPR, 2023) shows ages 2–6 are the critical window for learning. Poor planning during this stage shows measurable negative impact by age 10.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E85D04"/>
                </a:solidFill>
                <a:latin typeface="Arial"/>
              </a:defRPr>
            </a:pPr>
            <a:r>
              <a:t>⚡ LLM Structured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86000"/>
            <a:ext cx="301752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152D47"/>
                </a:solidFill>
                <a:latin typeface="Arial"/>
              </a:defRPr>
            </a:pPr>
            <a:r>
              <a:t>Constrained prompt engineering (few-shot + schema-guided) achieves 3.4× more consistent structured output vs. open prompts in educational contexts (arXiv 2024).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37760"/>
            <a:ext cx="10698480" cy="1005840"/>
          </a:xfrm>
          <a:prstGeom prst="round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029200"/>
            <a:ext cx="101498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🎯 Confirmed Research Gap:</a:t>
            </a:r>
            <a:br/>
            <a:r>
              <a:t>No free, accessible tool exists that accepts a child's age group + theme and returns a complete, DAP-aligned lesson plan (objectives, activities, rhymes, worksheets, and materials) in under 10 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50FE"/>
                </a:solidFill>
                <a:latin typeface="Arial"/>
              </a:defRPr>
            </a:pPr>
            <a:r>
              <a:t>EXISTING SYSTEM ANALYSIS — TOOLS 1 &amp;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52D47"/>
                </a:solidFill>
                <a:latin typeface="Georgia"/>
              </a:defRPr>
            </a:pPr>
            <a:r>
              <a:t>What's Already Out There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152D47"/>
                </a:solidFill>
                <a:latin typeface="Arial"/>
              </a:defRPr>
            </a:pPr>
            <a:r>
              <a:t>📝 TeacherMade / Canva 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6B8099"/>
                </a:solidFill>
                <a:latin typeface="Arial"/>
              </a:defRPr>
            </a:pPr>
            <a:r>
              <a:t>Template-based manual planning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16A34A"/>
                </a:solidFill>
                <a:latin typeface="Arial"/>
              </a:defRPr>
            </a:pPr>
            <a:r>
              <a:t>What it does: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4572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152D47"/>
                </a:solidFill>
                <a:latin typeface="Arial"/>
              </a:defRPr>
            </a:pPr>
            <a:r>
              <a:t>Provides pre-made templates for lesson plans, worksheets, and activities with drag-and-drop editing.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DC2626"/>
                </a:solidFill>
                <a:latin typeface="Arial"/>
              </a:defRPr>
            </a:pPr>
            <a:r>
              <a:t>Specific Limitations: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45720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152D47"/>
                </a:solidFill>
                <a:latin typeface="Arial"/>
              </a:defRPr>
            </a:pPr>
            <a:r>
              <a:t>• No AI generation — 100% manual content authoring</a:t>
            </a:r>
            <a:br/>
            <a:r>
              <a:t>• Templates are generic, not age-group calibrated</a:t>
            </a:r>
            <a:br/>
            <a:r>
              <a:t>• No preschool-specific educational content library</a:t>
            </a:r>
            <a:br/>
            <a:r>
              <a:t>• Teacher still spends ~45 mins per lesson 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152D47"/>
                </a:solidFill>
                <a:latin typeface="Arial"/>
              </a:defRPr>
            </a:pPr>
            <a:r>
              <a:t>🤖 ChatGPT (Direct Prompting)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0312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6B8099"/>
                </a:solidFill>
                <a:latin typeface="Arial"/>
              </a:defRPr>
            </a:pPr>
            <a:r>
              <a:t>General-purpose LLM for lesson plan queries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16A34A"/>
                </a:solidFill>
                <a:latin typeface="Arial"/>
              </a:defRPr>
            </a:pPr>
            <a:r>
              <a:t>What it does: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43200"/>
            <a:ext cx="4572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152D47"/>
                </a:solidFill>
                <a:latin typeface="Arial"/>
              </a:defRPr>
            </a:pPr>
            <a:r>
              <a:t>Generates lesson plan text via open prompts. Flexible and fast, but requires expert prompt engineering.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38328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DC2626"/>
                </a:solidFill>
                <a:latin typeface="Arial"/>
              </a:defRPr>
            </a:pPr>
            <a:r>
              <a:t>Specific Limitations: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657600"/>
            <a:ext cx="45720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152D47"/>
                </a:solidFill>
                <a:latin typeface="Arial"/>
              </a:defRPr>
            </a:pPr>
            <a:r>
              <a:t>• Output format is highly inconsistent across sessions</a:t>
            </a:r>
            <a:br/>
            <a:r>
              <a:t>• No DAP-aligned age calibration built-in</a:t>
            </a:r>
            <a:br/>
            <a:r>
              <a:t>• Requires prompt expertise — not accessible to all</a:t>
            </a:r>
            <a:br/>
            <a:r>
              <a:t>• No integration with school management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50FE"/>
                </a:solidFill>
                <a:latin typeface="Arial"/>
              </a:defRPr>
            </a:pPr>
            <a:r>
              <a:t>EXISTING SYSTEM ANALYSIS — TOOL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52D47"/>
                </a:solidFill>
                <a:latin typeface="Georgia"/>
              </a:defRPr>
            </a:pPr>
            <a:r>
              <a:t>Dedicated EdTech: Still Missing the Mark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152D47"/>
                </a:solidFill>
                <a:latin typeface="Arial"/>
              </a:defRPr>
            </a:pPr>
            <a:r>
              <a:t>🏫 Kiddopia / SmartClass360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6B8099"/>
                </a:solidFill>
                <a:latin typeface="Arial"/>
              </a:defRPr>
            </a:pPr>
            <a:r>
              <a:t>Preschool management platforms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16A34A"/>
                </a:solidFill>
                <a:latin typeface="Arial"/>
              </a:defRPr>
            </a:pPr>
            <a:r>
              <a:t>What it does: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4572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152D47"/>
                </a:solidFill>
                <a:latin typeface="Arial"/>
              </a:defRPr>
            </a:pPr>
            <a:r>
              <a:t>Full school management suite (attendance, parent chat) + a lesson bank with curated content.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DC2626"/>
                </a:solidFill>
                <a:latin typeface="Arial"/>
              </a:defRPr>
            </a:pPr>
            <a:r>
              <a:t>Specific Limitations: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45720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152D47"/>
                </a:solidFill>
                <a:latin typeface="Arial"/>
              </a:defRPr>
            </a:pPr>
            <a:r>
              <a:t>• No dynamic AI generation — only static pre-written lessons</a:t>
            </a:r>
            <a:br/>
            <a:r>
              <a:t>• Lesson bank limited to ~200 fixed themes, no custom inputs</a:t>
            </a:r>
            <a:br/>
            <a:r>
              <a:t>• High cost: ₹12,000–₹35,000/month per centre</a:t>
            </a:r>
            <a:br/>
            <a:r>
              <a:t>• No API or export options for external LMS integration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5120640" cy="2011680"/>
          </a:xfrm>
          <a:prstGeom prst="round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8308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Common Gaps Across Existing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03120"/>
            <a:ext cx="45720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D2DCF0"/>
                </a:solidFill>
                <a:latin typeface="Arial"/>
              </a:defRPr>
            </a:pPr>
            <a:r>
              <a:t>1. None generate content dynamically from age + theme.</a:t>
            </a:r>
            <a:br/>
            <a:r>
              <a:t>2. None produce all 4 outputs (plan + rhymes + materials + worksheets) in one flow.</a:t>
            </a:r>
            <a:br/>
            <a:r>
              <a:t>3. None are built for Indian preschool context.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931920"/>
            <a:ext cx="5120640" cy="2011680"/>
          </a:xfrm>
          <a:prstGeom prst="roundRect">
            <a:avLst/>
          </a:prstGeom>
          <a:solidFill>
            <a:srgbClr val="FDF0EB"/>
          </a:solidFill>
          <a:ln w="12700">
            <a:solidFill>
              <a:srgbClr val="E85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06908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E85D04"/>
                </a:solidFill>
                <a:latin typeface="Arial"/>
              </a:defRPr>
            </a:pPr>
            <a:r>
              <a:t>Our Design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389120"/>
            <a:ext cx="45720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152D47"/>
                </a:solidFill>
                <a:latin typeface="Arial"/>
              </a:defRPr>
            </a:pPr>
            <a:r>
              <a:t>Build a constrained, structured LLM pipeline that accepts age + theme, applies DAP rules, and returns a complete, formatted lesson plan in under 8 seconds.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50FE"/>
                </a:solidFill>
                <a:latin typeface="Arial"/>
              </a:defRPr>
            </a:pPr>
            <a:r>
              <a:t>COMPARISON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52D47"/>
                </a:solidFill>
                <a:latin typeface="Georgia"/>
              </a:defRPr>
            </a:pPr>
            <a:r>
              <a:t>Where Existing Gaps are Met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828800"/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Criteria</a:t>
                      </a:r>
                    </a:p>
                  </a:txBody>
                  <a:tcPr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TeacherMade / Canva</a:t>
                      </a:r>
                    </a:p>
                  </a:txBody>
                  <a:tcPr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ChatGPT (Open)</a:t>
                      </a:r>
                    </a:p>
                  </a:txBody>
                  <a:tcPr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Kiddopia</a:t>
                      </a:r>
                    </a:p>
                  </a:txBody>
                  <a:tcPr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✨ Our System</a:t>
                      </a:r>
                    </a:p>
                  </a:txBody>
                  <a:tcPr>
                    <a:solidFill>
                      <a:srgbClr val="0E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52D47"/>
                          </a:solidFill>
                          <a:latin typeface="Arial"/>
                        </a:defRPr>
                      </a:pPr>
                      <a:r>
                        <a:t>AI-Powered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✗ 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✓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✗ Static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150FE"/>
                          </a:solidFill>
                          <a:latin typeface="Arial"/>
                        </a:defRPr>
                      </a:pPr>
                      <a:r>
                        <a:t>✓ Structured LLM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52D47"/>
                          </a:solidFill>
                          <a:latin typeface="Arial"/>
                        </a:defRPr>
                      </a:pPr>
                      <a:r>
                        <a:t>Age-Group Calibration (DAP)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✗ 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⚠ Manual Prompt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⚠ Limited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150FE"/>
                          </a:solidFill>
                          <a:latin typeface="Arial"/>
                        </a:defRPr>
                      </a:pPr>
                      <a:r>
                        <a:t>✓ Auto (2–6 yrs)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52D47"/>
                          </a:solidFill>
                          <a:latin typeface="Arial"/>
                        </a:defRPr>
                      </a:pPr>
                      <a:r>
                        <a:t>Theme-Based Custom 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✗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✓ Open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✗ Fixed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150FE"/>
                          </a:solidFill>
                          <a:latin typeface="Arial"/>
                        </a:defRPr>
                      </a:pPr>
                      <a:r>
                        <a:t>✓ Free input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52D47"/>
                          </a:solidFill>
                          <a:latin typeface="Arial"/>
                        </a:defRPr>
                      </a:pPr>
                      <a:r>
                        <a:t>Complete Output plan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✗ Partial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⚠ Inconsistent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⚠ Partial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150FE"/>
                          </a:solidFill>
                          <a:latin typeface="Arial"/>
                        </a:defRPr>
                      </a:pPr>
                      <a:r>
                        <a:t>✓ All 4 outputs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52D47"/>
                          </a:solidFill>
                          <a:latin typeface="Arial"/>
                        </a:defRPr>
                      </a:pPr>
                      <a:r>
                        <a:t>Generation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2D47"/>
                          </a:solidFill>
                          <a:latin typeface="Arial"/>
                        </a:defRPr>
                      </a:pPr>
                      <a:r>
                        <a:t>45+ min (manual)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⚠ 5–15 min (manual)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2D47"/>
                          </a:solidFill>
                          <a:latin typeface="Arial"/>
                        </a:defRPr>
                      </a:pPr>
                      <a:r>
                        <a:t>Static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150FE"/>
                          </a:solidFill>
                          <a:latin typeface="Arial"/>
                        </a:defRPr>
                      </a:pPr>
                      <a:r>
                        <a:t>✓ &lt;8 seconds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52D47"/>
                          </a:solidFill>
                          <a:latin typeface="Arial"/>
                        </a:defRPr>
                      </a:pPr>
                      <a:r>
                        <a:t>Accessible to Non-Tech Teachers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✓ Yes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✗ Needs prompting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✓ Yes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150FE"/>
                          </a:solidFill>
                          <a:latin typeface="Arial"/>
                        </a:defRPr>
                      </a:pPr>
                      <a:r>
                        <a:t>✓ 2-field form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52D47"/>
                          </a:solidFill>
                          <a:latin typeface="Arial"/>
                        </a:defRPr>
                      </a:pPr>
                      <a:r>
                        <a:t>Cost (per school)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2D47"/>
                          </a:solidFill>
                          <a:latin typeface="Arial"/>
                        </a:defRPr>
                      </a:pPr>
                      <a:r>
                        <a:t>Freemium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⚠ $20/mo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✗ ₹12–35k/mo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150FE"/>
                          </a:solidFill>
                          <a:latin typeface="Arial"/>
                        </a:defRPr>
                      </a:pPr>
                      <a:r>
                        <a:t>✓ Free / internal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50FE"/>
                </a:solidFill>
                <a:latin typeface="Arial"/>
              </a:defRPr>
            </a:pPr>
            <a:r>
              <a:t>PROPOSED SYSTEM —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52D47"/>
                </a:solidFill>
                <a:latin typeface="Georgia"/>
              </a:defRPr>
            </a:pPr>
            <a:r>
              <a:t>Introducing the AI Lesson Plan Generator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2011680"/>
          </a:xfrm>
          <a:prstGeom prst="round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4984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Georgia"/>
              </a:defRPr>
            </a:pPr>
            <a:r>
              <a:t>"The proposed system, AI Lesson Plan Generator, is an intelligent educational planning assistant designed for early childhood educators at FirstCry Intellitots. It addresses the key limitation identified in existing solutions — specifically the absence of structured, age-calibrated, AI-generated lesson content — by implementing a constrained LLM pipeline with DAP-aligned prompt engineering. The system allows teachers to generate a complete lesson plan in under 8 seconds, reducing preparation burden from 2–4 hours to under 2 minutes. It will be built using React + Node.js + Gemini API."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52D47"/>
                </a:solidFill>
                <a:latin typeface="Arial"/>
              </a:defRPr>
            </a:pPr>
            <a:r>
              <a:t>👩‍🏫 Target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43400"/>
            <a:ext cx="301752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6B8099"/>
                </a:solidFill>
                <a:latin typeface="Arial"/>
              </a:defRPr>
            </a:pPr>
            <a:r>
              <a:t>Preschool teachers (ages 2–6) and curriculum coordinators at FirstCry Intellitots centres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84048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977639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52D47"/>
                </a:solidFill>
                <a:latin typeface="Arial"/>
              </a:defRPr>
            </a:pPr>
            <a:r>
              <a:t>⚡ Core Feature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343400"/>
            <a:ext cx="301752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6B8099"/>
                </a:solidFill>
                <a:latin typeface="Arial"/>
              </a:defRPr>
            </a:pPr>
            <a:r>
              <a:t>Age + Theme → AI → Complete lesson plan (activities, rhymes, worksheets, materials) in one structured 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84048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977639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52D47"/>
                </a:solidFill>
                <a:latin typeface="Arial"/>
              </a:defRPr>
            </a:pPr>
            <a:r>
              <a:t>🎯 Primary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343400"/>
            <a:ext cx="301752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6B8099"/>
                </a:solidFill>
                <a:latin typeface="Arial"/>
              </a:defRPr>
            </a:pPr>
            <a:r>
              <a:t>Reduce per-lesson planning time from ~135 minutes to under 2 minutes while ensuring DAP alignment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50FE"/>
                </a:solidFill>
                <a:latin typeface="Arial"/>
              </a:defRPr>
            </a:pPr>
            <a:r>
              <a:t>PROPOSED SYSTEM — HIGH-LEVEL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52D47"/>
                </a:solidFill>
                <a:latin typeface="Georgia"/>
              </a:defRPr>
            </a:pPr>
            <a:r>
              <a:t>System Architecture &amp;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5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2286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2150FE"/>
                </a:solidFill>
                <a:latin typeface="Arial"/>
              </a:defRPr>
            </a:pPr>
            <a:r>
              <a:t>Step 1: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228600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152D47"/>
                </a:solidFill>
                <a:latin typeface="Arial"/>
              </a:defRPr>
            </a:pPr>
            <a:r>
              <a:t>Teacher selects Age + enters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2860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50FE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5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83080"/>
            <a:ext cx="2286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2150FE"/>
                </a:solidFill>
                <a:latin typeface="Arial"/>
              </a:defRPr>
            </a:pPr>
            <a:r>
              <a:t>Step 2: PROMPT 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48840"/>
            <a:ext cx="228600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152D47"/>
                </a:solidFill>
                <a:latin typeface="Arial"/>
              </a:defRPr>
            </a:pPr>
            <a:r>
              <a:t>Backend constructs DAP prompt &amp;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860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50FE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5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783080"/>
            <a:ext cx="2286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2150FE"/>
                </a:solidFill>
                <a:latin typeface="Arial"/>
              </a:defRPr>
            </a:pPr>
            <a:r>
              <a:t>Step 3: AI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48840"/>
            <a:ext cx="228600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152D47"/>
                </a:solidFill>
                <a:latin typeface="Arial"/>
              </a:defRPr>
            </a:pPr>
            <a:r>
              <a:t>Gemini API generates structured 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2860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50FE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64592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5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1783080"/>
            <a:ext cx="2286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2150FE"/>
                </a:solidFill>
                <a:latin typeface="Arial"/>
              </a:defRPr>
            </a:pPr>
            <a:r>
              <a:t>Step 4: OUTPUT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148840"/>
            <a:ext cx="228600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152D47"/>
                </a:solidFill>
                <a:latin typeface="Arial"/>
              </a:defRPr>
            </a:pPr>
            <a:r>
              <a:t>React UI renders lesson plan blocks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49039"/>
            <a:ext cx="5120640" cy="219456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88620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2150FE"/>
                </a:solidFill>
                <a:latin typeface="Arial"/>
              </a:defRPr>
            </a:pPr>
            <a:r>
              <a:t>Features (from Research Gaps)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206240"/>
            <a:ext cx="45720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50" b="0">
                <a:solidFill>
                  <a:srgbClr val="152D47"/>
                </a:solidFill>
                <a:latin typeface="Arial"/>
              </a:defRPr>
            </a:pPr>
            <a:r>
              <a:t>• Age-group selector (2–3, 3–4, 4–5, 5–6 yrs) ← DAP gap</a:t>
            </a:r>
            <a:br/>
            <a:r>
              <a:t>• Free-text theme input (any topic) ← rigid tools gap</a:t>
            </a:r>
            <a:br/>
            <a:r>
              <a:t>• 4-output structured plan ← format inconsistency gap</a:t>
            </a:r>
            <a:br/>
            <a:r>
              <a:t>• Simple 2-field UI ← accessibility &amp; tech adoption gap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749039"/>
            <a:ext cx="5120640" cy="2194560"/>
          </a:xfrm>
          <a:prstGeom prst="roundRect">
            <a:avLst/>
          </a:prstGeom>
          <a:solidFill>
            <a:srgbClr val="FD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88620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E85D04"/>
                </a:solidFill>
                <a:latin typeface="Arial"/>
              </a:defRPr>
            </a:pPr>
            <a:r>
              <a:t>Scope Boundaries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206240"/>
            <a:ext cx="45720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50" b="0">
                <a:solidFill>
                  <a:srgbClr val="152D47"/>
                </a:solidFill>
                <a:latin typeface="Arial"/>
              </a:defRPr>
            </a:pPr>
            <a:r>
              <a:t>• Scope: Indian preschool context (English + Hindi support)</a:t>
            </a:r>
            <a:br/>
            <a:r>
              <a:t>• Out-of-scope: Student progress tracking, parent portal</a:t>
            </a:r>
            <a:br/>
            <a:r>
              <a:t>• Out-of-scope: Multi-lesson curriculum builder (Phase 2)</a:t>
            </a:r>
            <a:br/>
            <a:r>
              <a:t>• Platform: Web application (fully mobile-responsive)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50FE"/>
                </a:solidFill>
                <a:latin typeface="Arial"/>
              </a:defRPr>
            </a:pPr>
            <a:r>
              <a:t>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52D47"/>
                </a:solidFill>
                <a:latin typeface="Georgia"/>
              </a:defRPr>
            </a:pPr>
            <a:r>
              <a:t>Concrete, Measurable Improvements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3200" b="1">
                <a:solidFill>
                  <a:srgbClr val="2150FE"/>
                </a:solidFill>
                <a:latin typeface="Arial"/>
              </a:defRPr>
            </a:pPr>
            <a:r>
              <a:t>98%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3017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152D47"/>
                </a:solidFill>
                <a:latin typeface="Arial"/>
              </a:defRPr>
            </a:pPr>
            <a:r>
              <a:t>REDUCTION IN MANUAL PREP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30175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6B8099"/>
                </a:solidFill>
                <a:latin typeface="Arial"/>
              </a:defRPr>
            </a:pPr>
            <a:r>
              <a:t>From 2–4 hours manual prep to under 2 minutes per generated lesson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3200" b="1">
                <a:solidFill>
                  <a:srgbClr val="2150FE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68880"/>
            <a:ext cx="3017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152D47"/>
                </a:solidFill>
                <a:latin typeface="Arial"/>
              </a:defRPr>
            </a:pPr>
            <a:r>
              <a:t>DAP-ALIGNED EVERY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834640"/>
            <a:ext cx="30175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6B8099"/>
                </a:solidFill>
                <a:latin typeface="Arial"/>
              </a:defRPr>
            </a:pPr>
            <a:r>
              <a:t>Enforces developmental constraints vs. 73% generic failure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0175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3200" b="1">
                <a:solidFill>
                  <a:srgbClr val="2150FE"/>
                </a:solidFill>
                <a:latin typeface="Arial"/>
              </a:defRPr>
            </a:pPr>
            <a:r>
              <a:t>&lt;8 sec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68880"/>
            <a:ext cx="3017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152D47"/>
                </a:solidFill>
                <a:latin typeface="Arial"/>
              </a:defRPr>
            </a:pPr>
            <a:r>
              <a:t>END-TO-END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834640"/>
            <a:ext cx="30175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6B8099"/>
                </a:solidFill>
                <a:latin typeface="Arial"/>
              </a:defRPr>
            </a:pPr>
            <a:r>
              <a:t>Target response time for objective, activity, rhyme, and materials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5120640" cy="1828800"/>
          </a:xfrm>
          <a:prstGeom prst="roundRect">
            <a:avLst/>
          </a:prstGeom>
          <a:solidFill>
            <a:srgbClr val="F0FCF5"/>
          </a:solidFill>
          <a:ln w="12700">
            <a:solidFill>
              <a:srgbClr val="C8F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5196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16A34A"/>
                </a:solidFill>
                <a:latin typeface="Arial"/>
              </a:defRPr>
            </a:pPr>
            <a:r>
              <a:t>Teacher Benefits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572000"/>
            <a:ext cx="4572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152D47"/>
                </a:solidFill>
                <a:latin typeface="Arial"/>
              </a:defRPr>
            </a:pPr>
            <a:r>
              <a:t>• More time for direct student engagement and physical guidance</a:t>
            </a:r>
            <a:br/>
            <a:r>
              <a:t>• Consistent lesson planning quality regardless of teaching experience</a:t>
            </a:r>
            <a:br/>
            <a:r>
              <a:t>• Ready-to-print structured format — zero extra reformatting needed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114800"/>
            <a:ext cx="5120640" cy="1828800"/>
          </a:xfrm>
          <a:prstGeom prst="roundRect">
            <a:avLst/>
          </a:prstGeom>
          <a:solidFill>
            <a:srgbClr val="F0F5FF"/>
          </a:solidFill>
          <a:ln w="12700">
            <a:solidFill>
              <a:srgbClr val="C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25196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2150FE"/>
                </a:solidFill>
                <a:latin typeface="Arial"/>
              </a:defRPr>
            </a:pPr>
            <a:r>
              <a:t>Operational Benefits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572000"/>
            <a:ext cx="4572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152D47"/>
                </a:solidFill>
                <a:latin typeface="Arial"/>
              </a:defRPr>
            </a:pPr>
            <a:r>
              <a:t>• Scales planning quality across all centres with zero additional effort</a:t>
            </a:r>
            <a:br/>
            <a:r>
              <a:t>• Reduces planning dependence on scarce senior curriculum designers</a:t>
            </a:r>
            <a:br/>
            <a:r>
              <a:t>• Zero licensing cost compared to expensive ₹12–35k/month ERP modules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50FE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52D47"/>
                </a:solidFill>
                <a:latin typeface="Georgia"/>
              </a:defRPr>
            </a:pPr>
            <a:r>
              <a:t>Stack Chosen for Purpose, Not Popularity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2150FE"/>
                </a:solidFill>
                <a:latin typeface="Arial"/>
              </a:defRPr>
            </a:pPr>
            <a:r>
              <a:t>Frontend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57200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50" b="0">
                <a:solidFill>
                  <a:srgbClr val="152D47"/>
                </a:solidFill>
                <a:latin typeface="Arial"/>
              </a:defRPr>
            </a:pPr>
            <a:r>
              <a:t>• React.js: Component-based UI structure enables reusable lesson plan cards and dynamic state management for real-time loading feedback.</a:t>
            </a:r>
            <a:br/>
            <a:br/>
            <a:r>
              <a:t>• Tailwind CSS: Utility-first styling enables rapid, consistent UI development without custom CSS bloat.</a:t>
            </a:r>
            <a:br/>
            <a:br/>
            <a:r>
              <a:t>• Axios: Intercepts outgoing/incoming requests to append tokens and handle 401 redirect logouts cleanly.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E85D04"/>
                </a:solidFill>
                <a:latin typeface="Arial"/>
              </a:defRPr>
            </a:pPr>
            <a:r>
              <a:t>Backend &amp; AI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57200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50" b="0">
                <a:solidFill>
                  <a:srgbClr val="152D47"/>
                </a:solidFill>
                <a:latin typeface="Arial"/>
              </a:defRPr>
            </a:pPr>
            <a:r>
              <a:t>• Node.js + Express: Non-blocking I/O handles concurrent AI API calls efficiently; maps routes cleanly.</a:t>
            </a:r>
            <a:br/>
            <a:br/>
            <a:r>
              <a:t>• Google Gemini API: Prompts Gemini 1.5 Flash; strict JSON mode guarantees parseable response payload within 8000ms.</a:t>
            </a:r>
            <a:br/>
            <a:br/>
            <a:r>
              <a:t>• Supabase (PostgreSQL 16): Managed relational DB and integrated auth services; handles schema migrations runner.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1069848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440680"/>
            <a:ext cx="10149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152D47"/>
                </a:solidFill>
                <a:latin typeface="Arial"/>
              </a:defRPr>
            </a:pPr>
            <a:r>
              <a:t>🛠️ Dev Tools: VS Code, GitHub, Postman   |   🚀 Deployment: Vercel (frontend) + Railway (backend)   |   🧪 Testing: Vitest (Unit/Integration) + Playwright (E2E/a11y)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5000" b="0">
                <a:solidFill>
                  <a:srgbClr val="152D47"/>
                </a:solidFill>
                <a:latin typeface="Arial"/>
              </a:defRPr>
            </a:pPr>
            <a:r>
              <a:t>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Georgia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0">
                <a:solidFill>
                  <a:srgbClr val="6B8099"/>
                </a:solidFill>
                <a:latin typeface="Arial"/>
              </a:defRPr>
            </a:pPr>
            <a:r>
              <a:t>Open for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32304" y="3840480"/>
            <a:ext cx="7315200" cy="1463040"/>
          </a:xfrm>
          <a:prstGeom prst="roundRect">
            <a:avLst/>
          </a:prstGeom>
          <a:solidFill>
            <a:srgbClr val="192841"/>
          </a:solidFill>
          <a:ln w="12700">
            <a:solidFill>
              <a:srgbClr val="28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15184" y="3977639"/>
            <a:ext cx="6949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AI Lesson Plan Generator — Week 2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4343400"/>
            <a:ext cx="6949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2150FE"/>
                </a:solidFill>
                <a:latin typeface="Arial"/>
              </a:defRPr>
            </a:pPr>
            <a:r>
              <a:t>Dhori Sushmitha (Frontend) · Bandhela Anirudh (Backend) · Shaik Irfan Basha (Testing &amp; Deployment)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5184" y="4709160"/>
            <a:ext cx="6949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6B8099"/>
                </a:solidFill>
                <a:latin typeface="Arial"/>
              </a:defRPr>
            </a:pPr>
            <a:r>
              <a:t>FirstCry Intellitots ·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6B8099"/>
                </a:solidFill>
                <a:latin typeface="Arial"/>
              </a:defRPr>
            </a:pPr>
            <a:r>
              <a:t>📂 GitHub: /ai-lesson-plan-generator   |   🏢 NIAT Internship — NIAT, Bhongir   |   📋 Reg. ID: 252U1R1228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